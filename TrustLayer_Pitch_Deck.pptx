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3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1" i="0">
                <a:solidFill>
                  <a:srgbClr val="02C39A"/>
                </a:solidFill>
                <a:latin typeface="Calibri"/>
              </a:defRPr>
            </a:pPr>
            <a:r>
              <a:t>INNOVAHACK CHAPTER-1  ·  DOMAIN 3 (GEN AI)  ·  PROBLEM STATEMENT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8872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400" b="1" i="0">
                <a:solidFill>
                  <a:srgbClr val="FFFFFF"/>
                </a:solidFill>
                <a:latin typeface="Cambria"/>
              </a:defRPr>
            </a:pPr>
            <a:r>
              <a:t>TrustLayer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000" b="1" i="0">
                <a:solidFill>
                  <a:srgbClr val="C8F2EC"/>
                </a:solidFill>
                <a:latin typeface="Calibri"/>
              </a:defRPr>
            </a:pPr>
            <a:r>
              <a:t>Autonomous Multi-Agent Research</a:t>
            </a:r>
            <a:br/>
            <a:r>
              <a:t>&amp; Fact-Verification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 i="1">
                <a:solidFill>
                  <a:srgbClr val="FFFFFF"/>
                </a:solidFill>
                <a:latin typeface="Calibri"/>
              </a:defRPr>
            </a:pPr>
            <a:r>
              <a:t>A zero-trust multi-agent courtroom that audits AI-generated claims before you trust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88352" y="987552"/>
            <a:ext cx="3931920" cy="5029200"/>
          </a:xfrm>
          <a:prstGeom prst="roundRect">
            <a:avLst/>
          </a:prstGeom>
          <a:solidFill>
            <a:srgbClr val="001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0" y="914400"/>
            <a:ext cx="3931920" cy="502920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0" bIns="274320"/>
          <a:lstStyle/>
          <a:p>
            <a:pPr algn="ctr">
              <a:defRPr sz="1100" b="1">
                <a:solidFill>
                  <a:srgbClr val="02C39A"/>
                </a:solidFill>
                <a:latin typeface="Calibri"/>
              </a:defRPr>
            </a:pPr>
            <a:r>
              <a:t>PROJECT TEAM</a:t>
            </a:r>
          </a:p>
          <a:p>
            <a:pPr>
              <a:spcAft>
                <a:spcPts val="2400"/>
              </a:spcAft>
              <a:defRPr sz="2800" b="1">
                <a:solidFill>
                  <a:srgbClr val="FFFFFF"/>
                </a:solidFill>
                <a:latin typeface="Cambria"/>
              </a:defRPr>
            </a:pPr>
            <a:r>
              <a:t>enough</a:t>
            </a:r>
          </a:p>
          <a:p>
            <a:pPr>
              <a:defRPr sz="1100">
                <a:solidFill>
                  <a:srgbClr val="C8F2EC"/>
                </a:solidFill>
                <a:latin typeface="Calibri"/>
              </a:defRPr>
            </a:pPr>
            <a:r>
              <a:t>Team Leader:</a:t>
            </a:r>
          </a:p>
          <a:p>
            <a:pPr>
              <a:spcAft>
                <a:spcPts val="1600"/>
              </a:spcAft>
              <a:defRPr sz="1500" b="1">
                <a:solidFill>
                  <a:srgbClr val="FFFFFF"/>
                </a:solidFill>
                <a:latin typeface="Calibri"/>
              </a:defRPr>
            </a:pPr>
            <a:r>
              <a:t>Priya Patel</a:t>
            </a:r>
          </a:p>
          <a:p>
            <a:pPr>
              <a:defRPr sz="1100">
                <a:solidFill>
                  <a:srgbClr val="C8F2EC"/>
                </a:solidFill>
                <a:latin typeface="Calibri"/>
              </a:defRPr>
            </a:pPr>
            <a:r>
              <a:t>Team Members: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• Shweta Sharma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• Archi Chovatiya</a:t>
            </a:r>
          </a:p>
          <a:p>
            <a:pPr>
              <a:spcAft>
                <a:spcPts val="2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Vaidehi Mangrolia</a:t>
            </a:r>
          </a:p>
          <a:p>
            <a:pPr>
              <a:defRPr sz="1000">
                <a:solidFill>
                  <a:srgbClr val="C8F2EC"/>
                </a:solidFill>
                <a:latin typeface="Calibri"/>
              </a:defRPr>
            </a:pPr>
            <a:r>
              <a:t>Selected Track:</a:t>
            </a:r>
          </a:p>
          <a:p>
            <a:pPr>
              <a:defRPr sz="1200" b="1">
                <a:solidFill>
                  <a:srgbClr val="02C39A"/>
                </a:solidFill>
                <a:latin typeface="Calibri"/>
              </a:defRPr>
            </a:pPr>
            <a:r>
              <a:t>Domain 3 (Gen AI) - PS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600" b="1" i="0">
                <a:solidFill>
                  <a:srgbClr val="0E2A2D"/>
                </a:solidFill>
                <a:latin typeface="Cambria"/>
              </a:defRPr>
            </a:pPr>
            <a:r>
              <a:t>AI lies with total confidence.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 i="0">
                <a:solidFill>
                  <a:srgbClr val="0E2A2D"/>
                </a:solidFill>
                <a:latin typeface="Calibri"/>
              </a:defRPr>
            </a:pPr>
            <a:r>
              <a:t>Traditional RAG pipelines retrieve and summarize without double-checking the facts, propagating errors cost-inefficiently.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8408" y="2258568"/>
            <a:ext cx="3200400" cy="3474720"/>
          </a:xfrm>
          <a:prstGeom prst="roundRect">
            <a:avLst/>
          </a:prstGeom>
          <a:solidFill>
            <a:srgbClr val="D7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194560"/>
            <a:ext cx="32004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defRPr sz="1000" b="1">
                <a:solidFill>
                  <a:srgbClr val="028090"/>
                </a:solidFill>
              </a:defRPr>
            </a:pPr>
            <a:r>
              <a:t>01 / BLIND SPOTS</a:t>
            </a:r>
          </a:p>
          <a:p>
            <a:pPr>
              <a:spcAft>
                <a:spcPts val="1200"/>
              </a:spcAft>
              <a:defRPr sz="1800" b="1">
                <a:solidFill>
                  <a:srgbClr val="0E2A2D"/>
                </a:solidFill>
                <a:latin typeface="Cambria"/>
              </a:defRPr>
            </a:pPr>
            <a:r>
              <a:t>Self-Grading Homework</a:t>
            </a:r>
          </a:p>
          <a:p>
            <a:pPr>
              <a:defRPr sz="1200">
                <a:solidFill>
                  <a:srgbClr val="0E2A2D"/>
                </a:solidFill>
              </a:defRPr>
            </a:pPr>
            <a:r>
              <a:t>A single LLM model cannot reliably verify its own output. It suffers from confirmation bias, grading its own hallucinations as facts.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44568" y="2258568"/>
            <a:ext cx="3200400" cy="3474720"/>
          </a:xfrm>
          <a:prstGeom prst="roundRect">
            <a:avLst/>
          </a:prstGeom>
          <a:solidFill>
            <a:srgbClr val="D7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80560" y="2194560"/>
            <a:ext cx="32004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defRPr sz="1000" b="1">
                <a:solidFill>
                  <a:srgbClr val="028090"/>
                </a:solidFill>
              </a:defRPr>
            </a:pPr>
            <a:r>
              <a:t>02 / FAKE CITATIONS</a:t>
            </a:r>
          </a:p>
          <a:p>
            <a:pPr>
              <a:spcAft>
                <a:spcPts val="1200"/>
              </a:spcAft>
              <a:defRPr sz="1800" b="1">
                <a:solidFill>
                  <a:srgbClr val="0E2A2D"/>
                </a:solidFill>
                <a:latin typeface="Cambria"/>
              </a:defRPr>
            </a:pPr>
            <a:r>
              <a:t>Corrupted Reference RAG</a:t>
            </a:r>
          </a:p>
          <a:p>
            <a:pPr>
              <a:defRPr sz="1200">
                <a:solidFill>
                  <a:srgbClr val="0E2A2D"/>
                </a:solidFill>
              </a:defRPr>
            </a:pPr>
            <a:r>
              <a:t>Standard RAG models summarize whatever they find, citing unreliable, contradictory, or outright false internet sources as absolute truth.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0728" y="2258568"/>
            <a:ext cx="3200400" cy="3474720"/>
          </a:xfrm>
          <a:prstGeom prst="roundRect">
            <a:avLst/>
          </a:prstGeom>
          <a:solidFill>
            <a:srgbClr val="D7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0" y="2194560"/>
            <a:ext cx="32004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2A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defRPr sz="1000" b="1">
                <a:solidFill>
                  <a:srgbClr val="028090"/>
                </a:solidFill>
              </a:defRPr>
            </a:pPr>
            <a:r>
              <a:t>03 / COST BOTTLENECK</a:t>
            </a:r>
          </a:p>
          <a:p>
            <a:pPr>
              <a:spcAft>
                <a:spcPts val="1200"/>
              </a:spcAft>
              <a:defRPr sz="1800" b="1">
                <a:solidFill>
                  <a:srgbClr val="0E2A2D"/>
                </a:solidFill>
                <a:latin typeface="Cambria"/>
              </a:defRPr>
            </a:pPr>
            <a:r>
              <a:t>Verification Inflation</a:t>
            </a:r>
          </a:p>
          <a:p>
            <a:pPr>
              <a:defRPr sz="1200">
                <a:solidFill>
                  <a:srgbClr val="0E2A2D"/>
                </a:solidFill>
              </a:defRPr>
            </a:pPr>
            <a:r>
              <a:t>Deep, multi-step checking is slow and computationally expensive. Running it on every single generated claim crashes performance and budgets.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600" b="1" i="0">
                <a:solidFill>
                  <a:srgbClr val="0E2A2D"/>
                </a:solidFill>
                <a:latin typeface="Cambria"/>
              </a:defRPr>
            </a:pPr>
            <a:r>
              <a:t>Zero-Trust Multi-Agent Consensus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 i="0">
                <a:solidFill>
                  <a:srgbClr val="0E2A2D"/>
                </a:solidFill>
                <a:latin typeface="Calibri"/>
              </a:defRPr>
            </a:pPr>
            <a:r>
              <a:t>1. Research Agent</a:t>
            </a:r>
            <a:br/>
            <a:r>
              <a:t>Fires multiple search queries, pulls 4-6 distinct sources, and extracts individual checkable claims.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 i="0">
                <a:solidFill>
                  <a:srgbClr val="0E2A2D"/>
                </a:solidFill>
                <a:latin typeface="Calibri"/>
              </a:defRPr>
            </a:pPr>
            <a:r>
              <a:t>2. Verification Engine</a:t>
            </a:r>
            <a:br/>
            <a:r>
              <a:t>Fast Stage 1 structural checks triage claims, escalating suspicious ones to deep Stage 2 checks.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 i="0">
                <a:solidFill>
                  <a:srgbClr val="0E2A2D"/>
                </a:solidFill>
                <a:latin typeface="Calibri"/>
              </a:defRPr>
            </a:pPr>
            <a:r>
              <a:t>3. Synthesis Agent</a:t>
            </a:r>
            <a:br/>
            <a:r>
              <a:t>Combines verification signals, assigns confidence scores, and determines color badges.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 i="0">
                <a:solidFill>
                  <a:srgbClr val="0E2A2D"/>
                </a:solidFill>
                <a:latin typeface="Calibri"/>
              </a:defRPr>
            </a:pPr>
            <a:r>
              <a:t>4. Human-in-the-Loop</a:t>
            </a:r>
            <a:br/>
            <a:r>
              <a:t>Queues ambiguous or flagged claims in a review panel for final expert approval/rejection.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536192"/>
            <a:ext cx="5029200" cy="4572000"/>
          </a:xfrm>
          <a:prstGeom prst="roundRect">
            <a:avLst/>
          </a:prstGeom>
          <a:solidFill>
            <a:srgbClr val="D7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029200" cy="4572000"/>
          </a:xfrm>
          <a:prstGeom prst="roundRect">
            <a:avLst/>
          </a:prstGeom>
          <a:solidFill>
            <a:srgbClr val="013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22592" y="1764792"/>
            <a:ext cx="3474720" cy="502920"/>
          </a:xfrm>
          <a:prstGeom prst="roundRect">
            <a:avLst/>
          </a:prstGeom>
          <a:solidFill>
            <a:srgbClr val="0023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995160" y="1737360"/>
            <a:ext cx="3474720" cy="50292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Research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2258568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0" i="0">
                <a:solidFill>
                  <a:srgbClr val="02C39A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22592" y="2505456"/>
            <a:ext cx="3474720" cy="502920"/>
          </a:xfrm>
          <a:prstGeom prst="roundRect">
            <a:avLst/>
          </a:prstGeom>
          <a:solidFill>
            <a:srgbClr val="0023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95160" y="2478024"/>
            <a:ext cx="3474720" cy="50292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Stage 1 Fast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999232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0" i="0">
                <a:solidFill>
                  <a:srgbClr val="02C39A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22592" y="3246120"/>
            <a:ext cx="3474720" cy="502920"/>
          </a:xfrm>
          <a:prstGeom prst="roundRect">
            <a:avLst/>
          </a:prstGeom>
          <a:solidFill>
            <a:srgbClr val="0023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95160" y="3218688"/>
            <a:ext cx="3474720" cy="50292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013A40"/>
                </a:solidFill>
              </a:defRPr>
            </a:pPr>
            <a:r>
              <a:t>Stage 2 Escalation (Highlighted)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3739896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0" i="0">
                <a:solidFill>
                  <a:srgbClr val="02C39A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22592" y="3986784"/>
            <a:ext cx="3474720" cy="502920"/>
          </a:xfrm>
          <a:prstGeom prst="roundRect">
            <a:avLst/>
          </a:prstGeom>
          <a:solidFill>
            <a:srgbClr val="0023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95160" y="3959352"/>
            <a:ext cx="3474720" cy="50292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Synthesis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4480560"/>
            <a:ext cx="3474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800" b="0" i="0">
                <a:solidFill>
                  <a:srgbClr val="02C39A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22592" y="4727448"/>
            <a:ext cx="3474720" cy="502920"/>
          </a:xfrm>
          <a:prstGeom prst="roundRect">
            <a:avLst/>
          </a:prstGeom>
          <a:solidFill>
            <a:srgbClr val="0023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95160" y="4700016"/>
            <a:ext cx="3474720" cy="502920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200" b="1">
                <a:solidFill>
                  <a:srgbClr val="013A40"/>
                </a:solidFill>
              </a:defRPr>
            </a:pPr>
            <a:r>
              <a:t>Human-in-the-Loop (Highlighted)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3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How we cut verification cost by ~80%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0" b="1" i="0">
                <a:solidFill>
                  <a:srgbClr val="02C39A"/>
                </a:solidFill>
                <a:latin typeface="Cambria"/>
              </a:defRPr>
            </a:pPr>
            <a:r>
              <a:t>80%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3657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400" b="0" i="0">
                <a:solidFill>
                  <a:srgbClr val="C8F2EC"/>
                </a:solidFill>
                <a:latin typeface="Calibri"/>
              </a:defRPr>
            </a:pPr>
            <a:r>
              <a:t>estimated token-cost reduction vs. deep-checking every claim.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84064" y="1700784"/>
            <a:ext cx="6217920" cy="1280160"/>
          </a:xfrm>
          <a:prstGeom prst="roundRect">
            <a:avLst/>
          </a:prstGeom>
          <a:solidFill>
            <a:srgbClr val="001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0" y="1645920"/>
            <a:ext cx="6217920" cy="128016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02C39A"/>
                </a:solidFill>
                <a:latin typeface="Cambria"/>
              </a:defRPr>
            </a:pPr>
            <a:r>
              <a:t>Stage 1 — Fast Pass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A cheap logical scan runs on every single claim. Claims that are clean and well-supported are cleared immediately — no further spend.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4064" y="3209544"/>
            <a:ext cx="6217920" cy="1280160"/>
          </a:xfrm>
          <a:prstGeom prst="roundRect">
            <a:avLst/>
          </a:prstGeom>
          <a:solidFill>
            <a:srgbClr val="001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0" y="3154680"/>
            <a:ext cx="6217920" cy="128016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02C39A"/>
                </a:solidFill>
                <a:latin typeface="Cambria"/>
              </a:defRPr>
            </a:pPr>
            <a:r>
              <a:t>Stage 2 — Escalation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Deep validation triggers only when Stage 1 flags suspicion, or core supporting documents are missing.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4718304"/>
            <a:ext cx="6217920" cy="1280160"/>
          </a:xfrm>
          <a:prstGeom prst="roundRect">
            <a:avLst/>
          </a:prstGeom>
          <a:solidFill>
            <a:srgbClr val="001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0" y="4663440"/>
            <a:ext cx="6217920" cy="1280160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600" b="1">
                <a:solidFill>
                  <a:srgbClr val="02C39A"/>
                </a:solidFill>
                <a:latin typeface="Cambria"/>
              </a:defRPr>
            </a:pPr>
            <a:r>
              <a:t>Consolidated Auditor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Cross-Doc, Multi-Query, and Round-Trip checks run as ONE model request — preventing 429 quota errors and cutting latency.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600" b="1" i="0">
                <a:solidFill>
                  <a:srgbClr val="0E2A2D"/>
                </a:solidFill>
                <a:latin typeface="Cambria"/>
              </a:defRPr>
            </a:pPr>
            <a:r>
              <a:t>Live Anomaly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 i="0">
                <a:solidFill>
                  <a:srgbClr val="0E2A2D"/>
                </a:solidFill>
                <a:latin typeface="Calibri"/>
              </a:defRPr>
            </a:pPr>
            <a:r>
              <a:t>The Planted Test Case</a:t>
            </a:r>
            <a:br/>
            <a:r>
              <a:t>Deliberately injects a false claim to test the verification pipeline in real-time, verifying that detection actually triggers on anomalous inputs.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 i="0">
                <a:solidFill>
                  <a:srgbClr val="0E2A2D"/>
                </a:solidFill>
                <a:latin typeface="Calibri"/>
              </a:defRPr>
            </a:pPr>
            <a:r>
              <a:t>Cross-Document Contradiction</a:t>
            </a:r>
            <a:br/>
            <a:r>
              <a:t>Compares assertions across all scraped documents, catching anomalies when primary sources report conflicting figures or events.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0" i="0">
                <a:solidFill>
                  <a:srgbClr val="0E2A2D"/>
                </a:solidFill>
                <a:latin typeface="Calibri"/>
              </a:defRPr>
            </a:pPr>
            <a:r>
              <a:t>Semantic Stability Check</a:t>
            </a:r>
            <a:br/>
            <a:r>
              <a:t>Rephrases the claim and checks if the retrieved answer drifts, highlighting when a model converges on different outcomes.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2784" y="1700784"/>
            <a:ext cx="5029200" cy="2011680"/>
          </a:xfrm>
          <a:prstGeom prst="roundRect">
            <a:avLst/>
          </a:prstGeom>
          <a:solidFill>
            <a:srgbClr val="D7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02920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VERIFIED  |  CONFIDENCE 0.95</a:t>
            </a:r>
          </a:p>
          <a:p>
            <a:pPr>
              <a:spcBef>
                <a:spcPts val="600"/>
              </a:spcBef>
              <a:spcAft>
                <a:spcPts val="1000"/>
              </a:spcAft>
              <a:defRPr sz="1400" b="1">
                <a:solidFill>
                  <a:srgbClr val="0E2A2D"/>
                </a:solidFill>
                <a:latin typeface="Cambria"/>
              </a:defRPr>
            </a:pPr>
            <a:r>
              <a:t>JWST orbits the Sun–Earth L2 Lagrange point, roughly 1.5 million km from Earth.</a:t>
            </a:r>
          </a:p>
          <a:p>
            <a:pPr>
              <a:defRPr sz="1100">
                <a:solidFill>
                  <a:srgbClr val="028090"/>
                </a:solidFill>
              </a:defRPr>
            </a:pPr>
            <a:r>
              <a:t>Source: esa.int  ·  5 references  ·  Stage 2 bypassed (clean fast check)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3986784"/>
            <a:ext cx="5029200" cy="2194560"/>
          </a:xfrm>
          <a:prstGeom prst="roundRect">
            <a:avLst/>
          </a:prstGeom>
          <a:solidFill>
            <a:srgbClr val="D7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02920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defRPr sz="1000" b="1">
                <a:solidFill>
                  <a:srgbClr val="DC2626"/>
                </a:solidFill>
              </a:defRPr>
            </a:pPr>
            <a:r>
              <a:t>FLAGGED  |  CONFIDENCE 0.11  [PLANTED ANOMALY]</a:t>
            </a:r>
          </a:p>
          <a:p>
            <a:pPr>
              <a:spcBef>
                <a:spcPts val="600"/>
              </a:spcBef>
              <a:spcAft>
                <a:spcPts val="1000"/>
              </a:spcAft>
              <a:defRPr sz="1400" b="1">
                <a:solidFill>
                  <a:srgbClr val="0E2A2D"/>
                </a:solidFill>
                <a:latin typeface="Cambria"/>
              </a:defRPr>
            </a:pPr>
            <a:r>
              <a:t>Studies confirm that JWST was secretly funded by an anonymous time-traveler in 1947.</a:t>
            </a:r>
          </a:p>
          <a:p>
            <a:pPr>
              <a:defRPr sz="1100">
                <a:solidFill>
                  <a:srgbClr val="DC2626"/>
                </a:solidFill>
              </a:defRPr>
            </a:pPr>
            <a:r>
              <a:t>Source: conspiracy-theory-blog.net  ·  1 reference</a:t>
            </a:r>
            <a:br/>
            <a:r>
              <a:t>Signals: Cross-Doc: FAIL  ·  Multi-Query: FAIL  ·  Round-Trip: FAIL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600" b="1" i="0">
                <a:solidFill>
                  <a:srgbClr val="0E2A2D"/>
                </a:solidFill>
                <a:latin typeface="Cambria"/>
              </a:defRPr>
            </a:pPr>
            <a:r>
              <a:t>Real-World Integration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78408" y="2075688"/>
            <a:ext cx="3200400" cy="3657600"/>
          </a:xfrm>
          <a:prstGeom prst="roundRect">
            <a:avLst/>
          </a:prstGeom>
          <a:solidFill>
            <a:srgbClr val="D7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3200400" cy="3657600"/>
          </a:xfrm>
          <a:prstGeom prst="roundRect">
            <a:avLst/>
          </a:prstGeom>
          <a:solidFill>
            <a:srgbClr val="013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defRPr sz="1000" b="1">
                <a:solidFill>
                  <a:srgbClr val="02C39A"/>
                </a:solidFill>
              </a:defRPr>
            </a:pPr>
            <a:r>
              <a:t>INTEGRATION A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Cambria"/>
              </a:defRPr>
            </a:pPr>
            <a:r>
              <a:t>API Middleware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Integrate TrustLayer directly into chatbot pipelines to intercept hallucinations before they reach customer-facing applications. Blocks false answers in real-time.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44568" y="2075688"/>
            <a:ext cx="3200400" cy="3657600"/>
          </a:xfrm>
          <a:prstGeom prst="roundRect">
            <a:avLst/>
          </a:prstGeom>
          <a:solidFill>
            <a:srgbClr val="D7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80560" y="2011680"/>
            <a:ext cx="3200400" cy="3657600"/>
          </a:xfrm>
          <a:prstGeom prst="roundRect">
            <a:avLst/>
          </a:prstGeom>
          <a:solidFill>
            <a:srgbClr val="013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defRPr sz="1000" b="1">
                <a:solidFill>
                  <a:srgbClr val="02C39A"/>
                </a:solidFill>
              </a:defRPr>
            </a:pPr>
            <a:r>
              <a:t>INTEGRATION B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Cambria"/>
              </a:defRPr>
            </a:pPr>
            <a:r>
              <a:t>Browser Extension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A Chrome and Word extension that highlights claims live inside documents or websites. Displays red, yellow, and green status rings on facts as you type or read.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0728" y="2075688"/>
            <a:ext cx="3200400" cy="3657600"/>
          </a:xfrm>
          <a:prstGeom prst="roundRect">
            <a:avLst/>
          </a:prstGeom>
          <a:solidFill>
            <a:srgbClr val="D7D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200400" cy="3657600"/>
          </a:xfrm>
          <a:prstGeom prst="roundRect">
            <a:avLst/>
          </a:prstGeom>
          <a:solidFill>
            <a:srgbClr val="013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defRPr sz="1000" b="1">
                <a:solidFill>
                  <a:srgbClr val="02C39A"/>
                </a:solidFill>
              </a:defRPr>
            </a:pPr>
            <a:r>
              <a:t>INTEGRATION C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Cambria"/>
              </a:defRPr>
            </a:pPr>
            <a:r>
              <a:t>Admin Console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Routes flagged and ambiguous claims to human editors. Integrates with content management systems (CMS) to guarantee 100% factual accuracy before publication.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3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Cambria"/>
              </a:defRPr>
            </a:pPr>
            <a:r>
              <a:t>Thank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0" i="1">
                <a:solidFill>
                  <a:srgbClr val="02C39A"/>
                </a:solidFill>
                <a:latin typeface="Calibri"/>
              </a:defRPr>
            </a:pPr>
            <a:r>
              <a:t>TrustLayer makes AI research safe, auditable, and cheap to verify — at scale.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•  Zero-Trust Verification: </a:t>
            </a:r>
            <a:r>
              <a:rPr sz="1400">
                <a:solidFill>
                  <a:srgbClr val="C8F2EC"/>
                </a:solidFill>
                <a:latin typeface="Calibri"/>
              </a:rPr>
              <a:t>Actively disproves claims instead of blindly searching for support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•  Tiered Triage Architecture: </a:t>
            </a:r>
            <a:r>
              <a:rPr sz="1400">
                <a:solidFill>
                  <a:srgbClr val="C8F2EC"/>
                </a:solidFill>
                <a:latin typeface="Calibri"/>
              </a:rPr>
              <a:t>Bypasses Stage 2 checking on clear claims, saving ~80% in token costs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•  Audit Trail + Human Review: </a:t>
            </a:r>
            <a:r>
              <a:rPr sz="1400">
                <a:solidFill>
                  <a:srgbClr val="C8F2EC"/>
                </a:solidFill>
                <a:latin typeface="Calibri"/>
              </a:rPr>
              <a:t>Full trace on every claim, approved via human-in-the-loop review panel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 i="0">
                <a:solidFill>
                  <a:srgbClr val="02C39A"/>
                </a:solidFill>
                <a:latin typeface="Calibri"/>
              </a:defRPr>
            </a:pPr>
            <a:r>
              <a:t>Live Application: trustlayer.vercel.app   ·   GitHub: github.com/sharmashweta-04/multi-agent-fact-checker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