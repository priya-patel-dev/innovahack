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 i="0">
                <a:solidFill>
                  <a:srgbClr val="02C39A"/>
                </a:solidFill>
                <a:latin typeface="Calibri"/>
              </a:defRPr>
            </a:pPr>
            <a:r>
              <a:t>INNOVAHACK CHAPTER-1  ·  DOMAIN 3 (GEN AI)  ·  PROBLEM STATEMENT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mbria"/>
              </a:defRPr>
            </a:pPr>
            <a:r>
              <a:t>TrustLayer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 i="0">
                <a:solidFill>
                  <a:srgbClr val="C8F2EC"/>
                </a:solidFill>
                <a:latin typeface="Calibri"/>
              </a:defRPr>
            </a:pPr>
            <a:r>
              <a:t>Autonomous Multi-Agent Research</a:t>
            </a:r>
            <a:br/>
            <a:r>
              <a:t>&amp; Fact-Verification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A zero-trust multi-agent courtroom that audits AI-generated claims before you trust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8352" y="987552"/>
            <a:ext cx="3931920" cy="502920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0" y="914400"/>
            <a:ext cx="3931920" cy="5029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 bIns="274320"/>
          <a:lstStyle/>
          <a:p>
            <a:pPr algn="ctr">
              <a:defRPr sz="1100" b="1">
                <a:solidFill>
                  <a:srgbClr val="02C39A"/>
                </a:solidFill>
                <a:latin typeface="Calibri"/>
              </a:defRPr>
            </a:pPr>
            <a:r>
              <a:t>PROJECT TEAM</a:t>
            </a:r>
          </a:p>
          <a:p>
            <a:pPr>
              <a:spcAft>
                <a:spcPts val="2400"/>
              </a:spcAft>
              <a:defRPr sz="2800" b="1">
                <a:solidFill>
                  <a:srgbClr val="FFFFFF"/>
                </a:solidFill>
                <a:latin typeface="Cambria"/>
              </a:defRPr>
            </a:pPr>
            <a:r>
              <a:t>enough</a:t>
            </a:r>
          </a:p>
          <a:p>
            <a:pPr>
              <a:defRPr sz="1100">
                <a:solidFill>
                  <a:srgbClr val="C8F2EC"/>
                </a:solidFill>
                <a:latin typeface="Calibri"/>
              </a:defRPr>
            </a:pPr>
            <a:r>
              <a:t>Team Leader: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Priya Patel</a:t>
            </a:r>
          </a:p>
          <a:p>
            <a:pPr>
              <a:defRPr sz="1100">
                <a:solidFill>
                  <a:srgbClr val="C8F2EC"/>
                </a:solidFill>
                <a:latin typeface="Calibri"/>
              </a:defRPr>
            </a:pPr>
            <a:r>
              <a:t>Team Members: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Shweta Sharma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Archi Chovatiya</a:t>
            </a:r>
          </a:p>
          <a:p>
            <a:pPr>
              <a:spcAft>
                <a:spcPts val="2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Vaidehi Mangrolia</a:t>
            </a:r>
          </a:p>
          <a:p>
            <a:pPr>
              <a:defRPr sz="1000">
                <a:solidFill>
                  <a:srgbClr val="C8F2EC"/>
                </a:solidFill>
                <a:latin typeface="Calibri"/>
              </a:defRPr>
            </a:pPr>
            <a:r>
              <a:t>Selected Track:</a:t>
            </a:r>
          </a:p>
          <a:p>
            <a:pPr>
              <a:defRPr sz="1200" b="1">
                <a:solidFill>
                  <a:srgbClr val="02C39A"/>
                </a:solidFill>
                <a:latin typeface="Calibri"/>
              </a:defRPr>
            </a:pPr>
            <a:r>
              <a:t>Domain 3 (Gen AI) - PS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AI lies with total confidence.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0">
                <a:solidFill>
                  <a:srgbClr val="0E2A2D"/>
                </a:solidFill>
                <a:latin typeface="Calibri"/>
              </a:defRPr>
            </a:pPr>
            <a:r>
              <a:t>Traditional RAG pipelines retrieve and summarize without double-checking the facts, propagating errors cost-inefficiently.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01 / BLIND SPOTS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Self-Grading Homework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A single LLM model cannot reliably verify its own output. It suffers from confirmation bias, grading its own hallucinations as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456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02 / FAKE CITATIONS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Corrupted Reference RAG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Standard RAG models summarize whatever they find, citing unreliable, contradictory, or outright false internet sources as absolute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072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03 / COST BOTTLENECK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Verification Inflation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Deep, multi-step checking is slow and computationally expensive. Running it on every single generated claim crashes performance and budgets.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Zero-Trust Multi-Agent Consensus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1. Research Agent</a:t>
            </a:r>
            <a:br/>
            <a:r>
              <a:t>Fires multiple search queries, pulls 4-6 distinct sources, and extracts individual checkable claims.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2. Verification Engine</a:t>
            </a:r>
            <a:br/>
            <a:r>
              <a:t>Fast Stage 1 structural checks triage claims, escalating suspicious ones to deep Stage 2 checks.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3. Synthesis Agent</a:t>
            </a:r>
            <a:br/>
            <a:r>
              <a:t>Combines verification signals, assigns confidence scores, and determines color badges.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4. Human-in-the-Loop</a:t>
            </a:r>
            <a:br/>
            <a:r>
              <a:t>Queues ambiguous or flagged claims in a review panel for final expert approval/rejection.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536192"/>
            <a:ext cx="5029200" cy="45720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029200" cy="45720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22592" y="1764792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1737360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Research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5856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2592" y="2505456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2478024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Stage 1 Fast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99923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2592" y="3246120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95160" y="3218688"/>
            <a:ext cx="3474720" cy="50292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013A40"/>
                </a:solidFill>
              </a:defRPr>
            </a:pPr>
            <a:r>
              <a:t>Stage 2 Escalation (Highlighted)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739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3986784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95160" y="3959352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Synthesis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4480560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727448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4700016"/>
            <a:ext cx="3474720" cy="50292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013A40"/>
                </a:solidFill>
              </a:defRPr>
            </a:pPr>
            <a:r>
              <a:t>Human-in-the-Loop (Highlighted)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How we cut verification cost by ~80%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0" b="1" i="0">
                <a:solidFill>
                  <a:srgbClr val="02C39A"/>
                </a:solidFill>
                <a:latin typeface="Cambria"/>
              </a:defRPr>
            </a:pPr>
            <a:r>
              <a:t>80%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0">
                <a:solidFill>
                  <a:srgbClr val="C8F2EC"/>
                </a:solidFill>
                <a:latin typeface="Calibri"/>
              </a:defRPr>
            </a:pPr>
            <a:r>
              <a:t>estimated token-cost reduction vs. deep-checking every claim.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4064" y="170078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0" y="164592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Stage 1 — Fast Pass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 cheap logical scan runs on every single claim. Claims that are clean and well-supported are cleared immediately — no further spend.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320954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315468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Stage 2 — Escalation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Deep validation triggers only when Stage 1 flags suspicion, or core supporting documents are missing.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471830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0" y="466344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Consolidated Auditor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Cross-Doc, Multi-Query, and Round-Trip checks run as ONE model request — preventing 429 quota errors and cutting latency.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Live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The Planted Test Case</a:t>
            </a:r>
            <a:br/>
            <a:r>
              <a:t>Deliberately injects a false claim to test the verification pipeline in real-time, verifying that detection actually triggers on anomalous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Cross-Document Contradiction</a:t>
            </a:r>
            <a:br/>
            <a:r>
              <a:t>Compares assertions across all scraped documents, catching anomalies when primary sources report conflicting figures or events.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Semantic Stability Check</a:t>
            </a:r>
            <a:br/>
            <a:r>
              <a:t>Rephrases the claim and checks if the retrieved answer drifts, highlighting when a model converges on different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700784"/>
            <a:ext cx="5029200" cy="201168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02920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VERIFIED  |  CONFIDENCE 0.95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 b="1">
                <a:solidFill>
                  <a:srgbClr val="0E2A2D"/>
                </a:solidFill>
                <a:latin typeface="Cambria"/>
              </a:defRPr>
            </a:pPr>
            <a:r>
              <a:t>JWST orbits the Sun–Earth L2 Lagrange point, roughly 1.5 million km from Earth.</a:t>
            </a:r>
          </a:p>
          <a:p>
            <a:pPr>
              <a:defRPr sz="1100">
                <a:solidFill>
                  <a:srgbClr val="028090"/>
                </a:solidFill>
              </a:defRPr>
            </a:pPr>
            <a:r>
              <a:t>Source: esa.int  ·  5 references  ·  Stage 2 bypassed (clean fast check)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3986784"/>
            <a:ext cx="5029200" cy="219456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FLAGGED  |  CONFIDENCE 0.11  [PLANTED ANOMALY]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 b="1">
                <a:solidFill>
                  <a:srgbClr val="0E2A2D"/>
                </a:solidFill>
                <a:latin typeface="Cambria"/>
              </a:defRPr>
            </a:pPr>
            <a:r>
              <a:t>Studies confirm that JWST was secretly funded by an anonymous time-traveler in 1947.</a:t>
            </a:r>
          </a:p>
          <a:p>
            <a:pPr>
              <a:defRPr sz="1100">
                <a:solidFill>
                  <a:srgbClr val="DC2626"/>
                </a:solidFill>
              </a:defRPr>
            </a:pPr>
            <a:r>
              <a:t>Source: conspiracy-theory-blog.net  ·  1 reference</a:t>
            </a:r>
            <a:br/>
            <a:r>
              <a:t>Signals: Cross-Doc: FAIL  ·  Multi-Query: FAIL  ·  Round-Trip: FAIL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Real-World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840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A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API Middleware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Integrate TrustLayer directly into chatbot pipelines to intercept hallucinations before they reach customer-facing applications. Blocks false answers in real-time.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456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B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Browser Extension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 Chrome and Word extension that highlights claims live inside documents or websites. Displays red, yellow, and green status rings on facts as you type or 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072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C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Admin Console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Routes flagged and ambiguous claims to human editors. Integrates with content management systems (CMS) to guarantee 100% factual accuracy before publication.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Cambria"/>
              </a:defRPr>
            </a:pPr>
            <a: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0" i="1">
                <a:solidFill>
                  <a:srgbClr val="02C39A"/>
                </a:solidFill>
                <a:latin typeface="Calibri"/>
              </a:defRPr>
            </a:pPr>
            <a:r>
              <a:t>TrustLayer makes AI research safe, auditable, and cheap to verify —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Zero-Trust Verification: </a:t>
            </a:r>
            <a:r>
              <a:rPr sz="1400">
                <a:solidFill>
                  <a:srgbClr val="C8F2EC"/>
                </a:solidFill>
                <a:latin typeface="Calibri"/>
              </a:rPr>
              <a:t>Actively disproves claims instead of blindly searching for support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Tiered Triage Architecture: </a:t>
            </a:r>
            <a:r>
              <a:rPr sz="1400">
                <a:solidFill>
                  <a:srgbClr val="C8F2EC"/>
                </a:solidFill>
                <a:latin typeface="Calibri"/>
              </a:rPr>
              <a:t>Bypasses Stage 2 checking on clear claims, saving ~80% in token costs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Audit Trail + Human Review: </a:t>
            </a:r>
            <a:r>
              <a:rPr sz="1400">
                <a:solidFill>
                  <a:srgbClr val="C8F2EC"/>
                </a:solidFill>
                <a:latin typeface="Calibri"/>
              </a:rPr>
              <a:t>Full trace on every claim, approved via human-in-the-loop review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 i="0">
                <a:solidFill>
                  <a:srgbClr val="02C39A"/>
                </a:solidFill>
                <a:latin typeface="Calibri"/>
              </a:defRPr>
            </a:pPr>
            <a:r>
              <a:t>Live Application: trustlayer.vercel.app   ·   GitHub: github.com/priya-patel-dev/innovahack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